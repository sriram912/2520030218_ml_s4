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building a movie recommendation system that combines collaborative filtering with deep learning on the MovieLens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is fundamentally a relevance problem under sparse data. These four issues motivate combining collaborative filtering with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reasons the project is worth building, framed around both the user problem and the learning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survey of recommender research: the methods that keep recurring, and the limitations reported across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gaps define the scope: a like-for-like comparison of classical CF and a neural recommender on one dataset and one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MovieLens 1M is the benchmark dataset. It provides explicit ratings plus movie and user metadata that can support hybrid extensions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turns three raw MovieLens files into encoded index tensors, with the same split reused across both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architecture. Both models consume the same encoded data and the same split, so the evaluation is directly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model families and what each contributes. Both are scored on rating error and on ranking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concrete extensions, ordered from modelling improvements to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approach and being explicit that results are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2A1B47"/>
          </a:solidFill>
          <a:ln/>
        </p:spPr>
      </p:sp>
      <p:pic>
        <p:nvPicPr>
          <p:cNvPr id="4" name="Image 0" descr="/home/claude/mrs/icon_film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444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RECOMMENDER SYSTEMS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574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Recommendation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Collaborative Filtering and Deep Learning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279392"/>
            <a:ext cx="1371600" cy="41148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029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 (Nimma Lokesh Reddy)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5029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 &amp; ML)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face too many choices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too little relevance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522144" cy="27889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88920"/>
            <a:ext cx="658368" cy="658368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6" name="Image 0" descr="/home/claude/mrs/icon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463" y="29732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657600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overload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78808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catalogues hold thousands of titles, so finding a movie a user will actually enjoy is hard.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36544" y="2423160"/>
            <a:ext cx="2522144" cy="27889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56584" y="2788920"/>
            <a:ext cx="658368" cy="658368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11" name="Image 1" descr="/home/claude/mrs/icon_shuff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927" y="29732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657600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rating data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4178808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rates only a tiny fraction of the catalogue, leaving the user-item matrix mostly empty.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3008" y="2423160"/>
            <a:ext cx="2522144" cy="27889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53048" y="2788920"/>
            <a:ext cx="658368" cy="658368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16" name="Image 2" descr="/home/claude/mrs/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91" y="29732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53048" y="3657600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problem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53048" y="4178808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and newly added movies have no rating history, so classical methods cannot rank them.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29471" y="2423160"/>
            <a:ext cx="2522144" cy="27889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49511" y="2788920"/>
            <a:ext cx="658368" cy="658368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21" name="Image 3" descr="/home/claude/mrs/icon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3854" y="2973263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657600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linear patterns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4178808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matrix factorization captures linear structure and misses complex user-item interactions.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F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collaborative filtering and neural networks to a familiar, everyday problem — while learning the complete recommender-system workflow end to end.</a:t>
            </a:r>
            <a:endParaRPr lang="en-US" sz="1250" dirty="0"/>
          </a:p>
        </p:txBody>
      </p:sp>
      <p:pic>
        <p:nvPicPr>
          <p:cNvPr id="7" name="Image 0" descr="/home/claude/mrs/icon_pla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74920"/>
            <a:ext cx="685800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78638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786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22392" y="68580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movie discovery instead of showing everyone the same popular titles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22392" y="134416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60934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22392" y="150876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user preferences directly from rating behaviour, without manual tagging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22392" y="216712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243230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22392" y="233172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non-linear user–item interactions using learned embeddings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22392" y="299008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20" name="Shape 17"/>
          <p:cNvSpPr/>
          <p:nvPr/>
        </p:nvSpPr>
        <p:spPr>
          <a:xfrm>
            <a:off x="4892040" y="325526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920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22392" y="315468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collaborative filtering with a deep learning approach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22392" y="381304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24" name="Shape 21"/>
          <p:cNvSpPr/>
          <p:nvPr/>
        </p:nvSpPr>
        <p:spPr>
          <a:xfrm>
            <a:off x="4892040" y="407822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9204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22392" y="397764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recommendations with both rating-error and ranking metrics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22392" y="463600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28" name="Shape 25"/>
          <p:cNvSpPr/>
          <p:nvPr/>
        </p:nvSpPr>
        <p:spPr>
          <a:xfrm>
            <a:off x="4892040" y="490118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92040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22392" y="480060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sparsity and cold start affect real recommender systems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22392" y="5458968"/>
            <a:ext cx="6129223" cy="10973"/>
          </a:xfrm>
          <a:prstGeom prst="rect">
            <a:avLst/>
          </a:prstGeom>
          <a:solidFill>
            <a:srgbClr val="E4DEE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92040" y="5724144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892040" y="5724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422392" y="5623560"/>
            <a:ext cx="6129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the full ML pipeline on a benchmark dataset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Approaches studied across the literature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spans classical neighbourhood methods, matrix factorization, and neural recommenders — evaluated on different datasets and protocols.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7208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41448"/>
            <a:ext cx="457200" cy="45720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7" name="Image 0" descr="/home/claude/mrs/icon_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6946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36192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approaches found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301752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6424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0" y="301752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61104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0120" y="3447288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06424" y="3447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0" y="3447288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61104" y="3447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/ SVD++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0120" y="3877056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06424" y="3877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14800" y="3877056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261104" y="38770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Collaborative Filtering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" y="4306824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06424" y="4306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Autoencoder-Based CF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14800" y="4306824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61104" y="4306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Boltzmann Machines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0120" y="4736592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06424" y="4736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&amp; Deep Learning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0" y="4736592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261104" y="4736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/ RNN Models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0120" y="516636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106424" y="5166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0" y="516636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261104" y="5166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60120" y="5596128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06424" y="5596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Recommenders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14800" y="5596128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EFEAF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261104" y="5596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Transformers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699248" y="2148840"/>
            <a:ext cx="3852367" cy="3977640"/>
          </a:xfrm>
          <a:prstGeom prst="roundRect">
            <a:avLst>
              <a:gd name="adj" fmla="val 1899"/>
            </a:avLst>
          </a:prstGeom>
          <a:solidFill>
            <a:srgbClr val="1E1233"/>
          </a:solidFill>
          <a:ln/>
        </p:spPr>
      </p:sp>
      <p:sp>
        <p:nvSpPr>
          <p:cNvPr id="38" name="Shape 35"/>
          <p:cNvSpPr/>
          <p:nvPr/>
        </p:nvSpPr>
        <p:spPr>
          <a:xfrm>
            <a:off x="8019288" y="244144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9" name="Image 1" descr="/home/claude/mrs/icon_warning_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569464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859536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limitations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8046720" y="322783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266176" y="310896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rating-matrix sparsity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8046720" y="359359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8266176" y="347472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for new users and items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8046720" y="395935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8266176" y="384048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 in recommendations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8046720" y="432511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8266176" y="420624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on large catalogues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8046720" y="469087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8266176" y="457200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diversity and serendipity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8046720" y="505663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8266176" y="493776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 protocols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046720" y="542239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8266176" y="530352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compute for deep models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046720" y="5788152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8266176" y="5669280"/>
            <a:ext cx="29836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interpretability of results</a:t>
            </a:r>
            <a:endParaRPr lang="en-US" sz="1100" dirty="0"/>
          </a:p>
        </p:txBody>
      </p:sp>
      <p:sp>
        <p:nvSpPr>
          <p:cNvPr id="57" name="Text 5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leaves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93976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911096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alone captures mostly linear user–item relationships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2093976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83400" y="1911096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accuracy varies widely with dataset size, split strategy and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300984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118104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and cold start remain unsolved for users and movies with few ratings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2990088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048" y="3300984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83400" y="3118104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optimise rating error only and ignore ranking quality of the top-N list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07992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325112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 improve accuracy but add training cost and reduce interpretability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8728" y="4197096"/>
            <a:ext cx="527288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4507992"/>
            <a:ext cx="365760" cy="365760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3048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83400" y="4325112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works compare a classical and a neural model under one identical evaluation setup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513832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E1233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687568"/>
            <a:ext cx="429768" cy="4297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0" name="Image 0" descr="/home/claude/mrs/icon_search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735" y="5807903"/>
            <a:ext cx="189098" cy="18909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508760" y="5605272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build both a collaborative filtering baseline and a deep learning model on the same MovieLens data, and compare them under one shared evaluation procedure.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MovieLens 1M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GroupLens Research, University of Minnesota  ·  Benchmark movie-rating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2214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206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1,000,209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36544" y="1920240"/>
            <a:ext cx="252214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2057400"/>
            <a:ext cx="206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6,040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56032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920240"/>
            <a:ext cx="252214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2057400"/>
            <a:ext cx="206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3,883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56032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9471" y="1920240"/>
            <a:ext cx="252214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58071" y="2057400"/>
            <a:ext cx="206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– 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58071" y="256032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6720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520440"/>
            <a:ext cx="457200" cy="45720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19" name="Image 0" descr="/home/claude/mrs/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64845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36192" y="35478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provided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" y="429768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43000" y="4160520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987040" y="429768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169920" y="4160520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ID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13960" y="429768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96840" y="4160520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120" y="468172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143000" y="454456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2987040" y="468172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169920" y="454456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title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13960" y="468172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196840" y="454456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60120" y="5065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43000" y="4928616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987040" y="5065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169920" y="4928616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gender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013960" y="5065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196840" y="4928616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age group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960120" y="544982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143000" y="53126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2987040" y="544982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169920" y="53126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699248" y="3246120"/>
            <a:ext cx="3852367" cy="2468880"/>
          </a:xfrm>
          <a:prstGeom prst="roundRect">
            <a:avLst>
              <a:gd name="adj" fmla="val 2963"/>
            </a:avLst>
          </a:prstGeom>
          <a:solidFill>
            <a:srgbClr val="1E123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19288" y="3538728"/>
            <a:ext cx="32122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8019288" y="3886200"/>
            <a:ext cx="32122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a user would give an unseen movie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019288" y="4544568"/>
            <a:ext cx="3212287" cy="411480"/>
          </a:xfrm>
          <a:prstGeom prst="roundRect">
            <a:avLst>
              <a:gd name="adj" fmla="val 22222"/>
            </a:avLst>
          </a:prstGeom>
          <a:solidFill>
            <a:srgbClr val="2A1B47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02168" y="4544568"/>
            <a:ext cx="28465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rating  →  RMSE / MAE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019288" y="5029200"/>
            <a:ext cx="3212287" cy="411480"/>
          </a:xfrm>
          <a:prstGeom prst="roundRect">
            <a:avLst>
              <a:gd name="adj" fmla="val 22222"/>
            </a:avLst>
          </a:prstGeom>
          <a:solidFill>
            <a:srgbClr val="F2B134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202168" y="5029200"/>
            <a:ext cx="28465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Top-N list  →  NDCG@K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5870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of the user–item matrix: roughly 95%  ·  Ratings are explicit and integer-valued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preprocessing pipeline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56816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19656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ratings, movies and users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70632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633472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structure and dimensions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584448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447288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and duplicate entries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398264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261104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ratings with movie metadata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8698" y="1783080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69866" y="1956816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6986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90490" y="1819656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user and movie IDs to indices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8698" y="2596896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9866" y="2770632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9866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90490" y="2633472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user–item interaction matrix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8698" y="3410712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9866" y="3584448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6986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990490" y="3447288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rating distribution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68698" y="4224528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69866" y="4398264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69866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990490" y="4261104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users and movies with too few ratings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7317" y="1783080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8485" y="1956816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98485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719109" y="1819656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or centre ratings where required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7317" y="2596896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8485" y="2770632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98485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19109" y="2633472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train, validation and test sets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97317" y="3410712"/>
            <a:ext cx="345429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8485" y="3584448"/>
            <a:ext cx="310896" cy="310896"/>
          </a:xfrm>
          <a:prstGeom prst="ellipse">
            <a:avLst/>
          </a:prstGeom>
          <a:solidFill>
            <a:srgbClr val="1E123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98485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719109" y="3447288"/>
            <a:ext cx="26770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input tensors for the neural model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52029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E1233"/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" y="5394960"/>
            <a:ext cx="429768" cy="4297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0" name="Image 0" descr="/home/claude/mrs/icon_clipboard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735" y="5515295"/>
            <a:ext cx="189098" cy="189098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508760" y="5294376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checks: duplicate ratings removed  ·  rating distribution examined for bias  ·  sparse users and movies filtered  ·  identical splits reused for both models so the comparison stays fair.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ratings to a ranked list of movies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50592" cy="749808"/>
          </a:xfrm>
          <a:prstGeom prst="roundRect">
            <a:avLst>
              <a:gd name="adj" fmla="val 10976"/>
            </a:avLst>
          </a:prstGeom>
          <a:solidFill>
            <a:srgbClr val="3824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36392" y="2048256"/>
            <a:ext cx="274320" cy="219456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3456432" y="1783080"/>
            <a:ext cx="2450592" cy="749808"/>
          </a:xfrm>
          <a:prstGeom prst="roundRect">
            <a:avLst>
              <a:gd name="adj" fmla="val 10976"/>
            </a:avLst>
          </a:prstGeom>
          <a:solidFill>
            <a:srgbClr val="38245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1783080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52744" y="2048256"/>
            <a:ext cx="274320" cy="219456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0" name="Shape 8"/>
          <p:cNvSpPr/>
          <p:nvPr/>
        </p:nvSpPr>
        <p:spPr>
          <a:xfrm>
            <a:off x="6272784" y="1783080"/>
            <a:ext cx="2450592" cy="749808"/>
          </a:xfrm>
          <a:prstGeom prst="roundRect">
            <a:avLst>
              <a:gd name="adj" fmla="val 10976"/>
            </a:avLst>
          </a:prstGeom>
          <a:solidFill>
            <a:srgbClr val="38245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4224" y="1783080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Movie ID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69096" y="2048256"/>
            <a:ext cx="274320" cy="219456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3" name="Shape 11"/>
          <p:cNvSpPr/>
          <p:nvPr/>
        </p:nvSpPr>
        <p:spPr>
          <a:xfrm>
            <a:off x="9089136" y="1783080"/>
            <a:ext cx="2450592" cy="749808"/>
          </a:xfrm>
          <a:prstGeom prst="roundRect">
            <a:avLst>
              <a:gd name="adj" fmla="val 10976"/>
            </a:avLst>
          </a:prstGeom>
          <a:solidFill>
            <a:srgbClr val="38245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0576" y="1783080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– Validation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Test Split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90672" y="2670048"/>
            <a:ext cx="219456" cy="274320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16" name="Shape 14"/>
          <p:cNvSpPr/>
          <p:nvPr/>
        </p:nvSpPr>
        <p:spPr>
          <a:xfrm>
            <a:off x="8881567" y="2670048"/>
            <a:ext cx="219456" cy="274320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97180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4B3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118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 Baseline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5021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matrix  ·  similarity  ·  matrix factorization (SVD)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30975" y="297180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4B3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05295" y="3118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05295" y="35021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movie embeddings  ·  concatenation  ·  dense layers  ·  dropout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90672" y="4315968"/>
            <a:ext cx="219456" cy="274320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24" name="Shape 22"/>
          <p:cNvSpPr/>
          <p:nvPr/>
        </p:nvSpPr>
        <p:spPr>
          <a:xfrm>
            <a:off x="8881567" y="4315968"/>
            <a:ext cx="219456" cy="274320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617720"/>
            <a:ext cx="10911535" cy="658368"/>
          </a:xfrm>
          <a:prstGeom prst="roundRect">
            <a:avLst>
              <a:gd name="adj" fmla="val 12500"/>
            </a:avLst>
          </a:prstGeom>
          <a:solidFill>
            <a:srgbClr val="2A1B47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61772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Comparison   ·   RMSE  ·  MAE  ·  Precision@K  ·  Recall@K  ·  NDCG@K  ·  Hit Rate@K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86120" y="5349240"/>
            <a:ext cx="219456" cy="274320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28" name="Shape 26"/>
          <p:cNvSpPr/>
          <p:nvPr/>
        </p:nvSpPr>
        <p:spPr>
          <a:xfrm>
            <a:off x="3261208" y="5559552"/>
            <a:ext cx="5669280" cy="566928"/>
          </a:xfrm>
          <a:prstGeom prst="roundRect">
            <a:avLst>
              <a:gd name="adj" fmla="val 14516"/>
            </a:avLst>
          </a:prstGeom>
          <a:solidFill>
            <a:srgbClr val="F2B1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52648" y="55595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Personalised Movie Recommendations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 vs. Deep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2888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6" name="Image 0" descr="/home/claude/mrs/icon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1195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93392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05840" y="28803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61872" y="26974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the user–item rating matrix alone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44728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61872" y="3264408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similarity between users and between movies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4014216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61872" y="3831336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decomposes ratings into latent factors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4581144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61872" y="4398264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to train, and easy to interpret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0120" y="5074920"/>
            <a:ext cx="4632808" cy="457200"/>
          </a:xfrm>
          <a:prstGeom prst="roundRect">
            <a:avLst>
              <a:gd name="adj" fmla="val 20000"/>
            </a:avLst>
          </a:prstGeom>
          <a:solidFill>
            <a:srgbClr val="EFEA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507492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history  →  Predicted rating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78728" y="1645920"/>
            <a:ext cx="5272888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98768" y="1965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20" name="Image 1" descr="/home/claude/mrs/icon_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387" y="2119579"/>
            <a:ext cx="241402" cy="2414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84568" y="1993392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644488" y="28803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00520" y="26974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dense embeddings for every user and movie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44488" y="344728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00520" y="3264408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 model non-linear user–movie interactions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44488" y="4014216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00520" y="3831336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and regularisation control overfitting on sparse data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44488" y="4581144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00520" y="4398264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naturally to genres and other side information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98768" y="5074920"/>
            <a:ext cx="4632808" cy="457200"/>
          </a:xfrm>
          <a:prstGeom prst="roundRect">
            <a:avLst>
              <a:gd name="adj" fmla="val 20000"/>
            </a:avLst>
          </a:prstGeom>
          <a:solidFill>
            <a:srgbClr val="EFEAF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98768" y="507492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 →  Predicted rating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0080" y="5788152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1E123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22960" y="5788152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with:   RMSE   ·   MAE   ·   Precision@K   ·   Recall@K   ·   NDCG@K   ·   Hit Rate@K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can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6" name="Image 0" descr="/home/claude/mrs/icon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110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1576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recommender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8152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collaborative signals with movie content and genre features.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6544" y="178308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10864" y="205740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11" name="Image 1" descr="/home/claude/mrs/icon_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83" y="22110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0864" y="271576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modelling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710864" y="308152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order of watching to capture how taste changes over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178308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07328" y="205740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16" name="Image 2" descr="/home/claude/mrs/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947" y="22110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271576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handling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08152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profile and metadata to recommend for brand-new users and titles.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29471" y="178308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03791" y="205740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21" name="Image 3" descr="/home/claude/mrs/icon_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411" y="22110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03791" y="271576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Graph-based models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303791" y="308152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users and movies as a graph and learn with a GNN.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977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26" name="Image 4" descr="/home/claude/mrs/icon_wifi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" y="44055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4400" y="491032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serving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527608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recommendations through an API with cached candidate generation.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36544" y="3977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710864" y="4251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31" name="Image 5" descr="/home/claude/mrs/icon_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483" y="440557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710864" y="491032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results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3710864" y="527608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why a movie was recommended to build user trust.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33008" y="3977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36" name="Image 6" descr="/home/claude/mrs/icon_shuff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947" y="440557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07328" y="491032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&amp; novelty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6507328" y="527608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accuracy against variety so results are not only popular titles.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29471" y="397764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EE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303791" y="4251960"/>
            <a:ext cx="548640" cy="548640"/>
          </a:xfrm>
          <a:prstGeom prst="ellipse">
            <a:avLst/>
          </a:prstGeom>
          <a:solidFill>
            <a:srgbClr val="1E1233"/>
          </a:solidFill>
          <a:ln/>
        </p:spPr>
      </p:sp>
      <p:pic>
        <p:nvPicPr>
          <p:cNvPr id="41" name="Image 7" descr="/home/claude/mrs/icon_mobil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7411" y="4405579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03791" y="4910328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/ mobile app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303791" y="5276088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trained model in a simple interface for live recommendations.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step toward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movie discovery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relevant movies from a large catalogue is a real personalisation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81528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8986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learns preferences directly from historical rating behaviour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648456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655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adds embeddings and non-linear layers on top of those signals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15384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0325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provides a standard benchmark for training and evaluation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82312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5994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will be compared using rating-error and ranking 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34924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5166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E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model can drive a simple Top-N recommendation interface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79008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2B1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79008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 is still in progress — the metrics above define how the two models will be judged once training is complete.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2A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" name="Image 0" descr="/home/claude/mrs/icon_film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4563" y="2430475"/>
            <a:ext cx="442570" cy="4425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·  Collaborative Filtering &amp; Deep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2026-09-02T05:59:07Z</dcterms:created>
  <dcterms:modified xsi:type="dcterms:W3CDTF">2026-09-02T05:59:07Z</dcterms:modified>
</cp:coreProperties>
</file>